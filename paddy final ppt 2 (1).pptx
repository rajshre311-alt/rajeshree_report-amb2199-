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-81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01853D-50E0-7FD0-D553-9C8B61487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9D1DD1E-B236-BA80-CB3D-0FDE599D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0A740F-43BE-230C-F1E4-0A31120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FCF54E-DF06-BA31-86CE-C3F29D1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02224E-2F6F-1EA9-798C-61F5F2E7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4890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26884C-3F16-5097-4FC1-6886C69E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993267-F8A8-57A8-58AE-D25FFC9D6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E5072F-1B2D-26E9-68C7-DF2D512D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D4C69D-F21B-A62A-63AE-AB6D937C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80DCFF-17F7-4328-0568-17D83B43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03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E61A4D-94E4-BEA9-8CB4-83D44085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9D4916F-64D8-F261-24E9-552600E11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20A88D-99C8-8CC2-5010-0BB43A45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F3221E-03FB-20CC-4AE7-04F83FCF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9E28C6-A8E5-840A-E499-93E06EE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8436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71B5D5-D541-24A6-A715-D5037594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693509-54B2-4273-9664-FB058B9D7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D38F7BC-CFAB-A1A6-12B2-581D1DF08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1359645-66C3-A9F0-37D0-6E815899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5A6C3AE-D9BC-CE45-8D17-2CA05A52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58BABF-F86A-4494-80E8-AFF2330F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9534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AE465F-2AEA-FAB4-30C3-4454BFA3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C51C84-4199-B092-1C2F-4F73039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2973D9-6ACF-6B77-6D80-8AF5A98B6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847E565-6911-BF6A-D36A-D9B3804E7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A570D3D-84B4-B032-2F8F-2AD2F2998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93C67BE-8B8A-0CC0-347F-8F3D1EA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748719C-116E-28BD-D402-AEDBA399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9447376-E17A-5476-254E-413A6074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2683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82DCE0-F8EB-76B2-5B0F-DD4389D2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EC51616-7501-F621-50F2-03E20CAC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31B139-B5ED-5A7F-D9FE-381E92A1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CDCE846-D903-37F5-4505-46702654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515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F70B9FD-7469-FEDA-5C05-07A3BDA7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3495172-4AF3-720B-05AF-3CC9C76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7412E31-9BD9-30EA-6F18-23B458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0271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4DCF7-95A1-318F-04B0-82DF1EACE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B71ECC-285C-8F0B-0EE2-EDA8D94D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38C724-D32B-D00F-5EDB-EA529E8E3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218A8BB-C45C-2AFB-630F-E5E39E2A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085B49D-A571-35F0-4874-9C47208A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9027DF-5E3F-EA2B-DC70-154C46BA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170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DD1D1E-9E25-5018-51AF-C9A450C7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1A538E9-7C43-3CD5-F0FC-E107995C1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FA4FA39-C13C-B96A-7FE6-467EA2175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073E8C1-E728-6060-F639-E82BE7AC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B0A1F1D-9C8C-9F49-6C8D-5D5DFFB6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08DC58D-7E3B-7793-0214-E8164AB2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6749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81E498-010D-4C76-F58A-D2C18AF2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BFC04B2-42C2-23A4-11CE-0CAA8CAEE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C5444C-F379-2998-02EE-D9583842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AA8AB-275D-3AC2-9A1B-268735A0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F1C530-F2A7-D2DA-562E-2408F1C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5156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FA007F9-CF51-FA2F-4A84-94814906F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80CDA71-581D-4B87-0422-0AB7FB826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D36467-B530-B080-76CA-F9FE6F27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D344CF-CAF8-3D19-A8CB-25A18E4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8146A1-976A-E4C9-FCCB-7033BDB9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3039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DECC225-2153-866B-3D6E-88CAF853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1B51CF3-9ABA-CE7E-6208-6E7EC5C0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7C5C53-A18B-A1D8-106A-C6CEA73BB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958E2A-6CFD-9D11-5F43-6C0E5A7E4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EF5DD8-90A6-21BF-8B26-08420F576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4500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23CDA2-55C0-97FF-FC5C-2A12E4E7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567" y="3086670"/>
            <a:ext cx="9144000" cy="975172"/>
          </a:xfrm>
        </p:spPr>
        <p:txBody>
          <a:bodyPr>
            <a:normAutofit fontScale="90000"/>
          </a:bodyPr>
          <a:lstStyle/>
          <a:p>
            <a:pPr algn="l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Paddy Yield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2F19D3-A721-37B3-1BFF-096CA1512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5085" y="5214897"/>
            <a:ext cx="5050972" cy="1241218"/>
          </a:xfrm>
        </p:spPr>
        <p:txBody>
          <a:bodyPr>
            <a:normAutofit fontScale="92500" lnSpcReduction="20000"/>
          </a:bodyPr>
          <a:lstStyle/>
          <a:p>
            <a:pPr algn="l"/>
            <a:endParaRPr lang="en-IN" dirty="0"/>
          </a:p>
          <a:p>
            <a:pPr algn="l"/>
            <a:r>
              <a:rPr lang="en-IN" sz="1600" b="1" dirty="0"/>
              <a:t>EAI421 - AI and Machine Learning in Agriculture</a:t>
            </a:r>
          </a:p>
          <a:p>
            <a:pPr algn="l"/>
            <a:r>
              <a:rPr lang="en-IN" sz="1500" dirty="0"/>
              <a:t>Pooja H –AMB2170</a:t>
            </a:r>
          </a:p>
          <a:p>
            <a:pPr algn="l"/>
            <a:r>
              <a:rPr lang="en-IN" sz="1500" dirty="0" err="1"/>
              <a:t>Rajeshree</a:t>
            </a:r>
            <a:r>
              <a:rPr lang="en-IN" sz="1500" dirty="0"/>
              <a:t> Y  – AMB2199 </a:t>
            </a:r>
            <a:r>
              <a:rPr lang="en-IN" sz="1400" dirty="0"/>
              <a:t>Academic Year: 2025-2026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BA64635-5D0A-2372-382C-A978CB05A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0F93BF-F706-C597-2EA2-FB3C33B61910}"/>
              </a:ext>
            </a:extLst>
          </p:cNvPr>
          <p:cNvSpPr txBox="1"/>
          <p:nvPr/>
        </p:nvSpPr>
        <p:spPr>
          <a:xfrm>
            <a:off x="1012280" y="491364"/>
            <a:ext cx="729343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768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EA67D4-B5AC-88D0-1315-459ABFF5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030"/>
            <a:ext cx="10515600" cy="88011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5BA53-3DA3-A241-19B4-AAADAD8A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1. Introduction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2. Objectives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3. Motivation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4. Problem Statement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5. Dataset Overview &amp; Feature Description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6. Methodology / Approach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7. Tools and Technologies Used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8. Results &amp; Model Performance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9. Discussion / Analysis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10. Conclusion and Future Work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11. References / Acknowledgements</a:t>
            </a:r>
          </a:p>
        </p:txBody>
      </p:sp>
    </p:spTree>
    <p:extLst>
      <p:ext uri="{BB962C8B-B14F-4D97-AF65-F5344CB8AC3E}">
        <p14:creationId xmlns:p14="http://schemas.microsoft.com/office/powerpoint/2010/main" xmlns="" val="335571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4388F0-1B1A-F8E0-28FB-2E91D413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BC2088-2537-C898-EDE8-F29A38AB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Agriculture is the backbone of economic development in many developing nations.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Paddy (Oryza sativa) is one of the most cultivated staple crops across Asia.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The vegetative-to-reproductive transition (days 91-120) is highly sensitive to climate stress.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Traditional yield estimation is time-consuming, resource-intensive, and subjective.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Machine learning offers data-driven, reproducible alternatives for accurate yield prediction.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This project applies Linear Regression, Decision Tree and Random Forest on 74 field observations.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57685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EEC64E-6259-BDEB-81C7-0AA36326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F4DE5B-6CAB-30B3-9B45-552EB9F59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91585"/>
            <a:ext cx="11082336" cy="428537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Paddy yield is highly sensitive to temperature and humidity during days 91-120 of the crop cycle.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Despite abundant climate data, accessible ML pipelines for small-dataset prediction are lacking.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Key challenge: Small dataset (74 obs.) with weak direct feature-yield correlations (max r = 0.16).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Goal: Build a reproducible ML pipeline for paddy yield prediction from three climate features.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Scope: Linear Regression, Decision Tree, Random Forest with GridSearchCV hyperparameter tuning.</a:t>
            </a:r>
          </a:p>
        </p:txBody>
      </p:sp>
    </p:spTree>
    <p:extLst>
      <p:ext uri="{BB962C8B-B14F-4D97-AF65-F5344CB8AC3E}">
        <p14:creationId xmlns:p14="http://schemas.microsoft.com/office/powerpoint/2010/main" xmlns="" val="342036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F78E53-408F-025E-A2C8-E0A26CA8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956503-8164-BAD0-BA07-89BB5BB1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Food security in Asia depends on reliable paddy yield forecasting for planning and policy.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Climate variability during the reproductive stage directly impacts crop output and food supply.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Data-driven approaches can provide early warnings to farmers and agricultural decision-makers.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ML baselines are essential for benchmarking future advanced models (XGBoost, transformers).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Establishing a reproducible framework supports sustainable precision agriculture research.</a:t>
            </a:r>
          </a:p>
        </p:txBody>
      </p:sp>
    </p:spTree>
    <p:extLst>
      <p:ext uri="{BB962C8B-B14F-4D97-AF65-F5344CB8AC3E}">
        <p14:creationId xmlns:p14="http://schemas.microsoft.com/office/powerpoint/2010/main" xmlns="" val="135093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305121-F97F-AF46-002F-0D26DA44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E08854-5D5C-AE73-4312-FD562407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Preprocess and explore real-world paddy yield data; handle missing values and scale features.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Implement and compare: Linear Regression, Decision Tree Regressor, Random Forest Regressor.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Evaluate models using MSE, MAE, and R2 Score metrics on a held-out test set (15 samples).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Apply GridSearchCV-based hyperparameter tuning for Decision Tree, Random Forest and Ridge.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Perform feature importance analysis to identify dominant climate variables driving yield.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Visualise results via correlation heatmaps, distribution plots and prediction scatter charts.</a:t>
            </a:r>
          </a:p>
        </p:txBody>
      </p:sp>
    </p:spTree>
    <p:extLst>
      <p:ext uri="{BB962C8B-B14F-4D97-AF65-F5344CB8AC3E}">
        <p14:creationId xmlns:p14="http://schemas.microsoft.com/office/powerpoint/2010/main" xmlns="" val="3407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77B1EC-DAE1-08A1-0D2C-E648A8BE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8B5BF8-B967-AEEC-0908-E970CFB8E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Source: Field trial observations - 74 records, 4 features (3 climate inputs + 1 target yield).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Min Temp D91-D120: 15.5-21.0 C  |  Max Temp D91-D120: 29.0-37.5 C  |  Humidity: 62-93%.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Target: Paddy yield in Kg (range: 31,800 - 39,200 Kg per field observation).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Data Quality: All 74 observations complete - no missing values detected or imputed.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Preprocessing: StandardScaler normalisation to zero-mean and unit-variance.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Train/Test Split: 80/20 yielding 59 training samples and 15 test samples.</a:t>
            </a:r>
          </a:p>
        </p:txBody>
      </p:sp>
    </p:spTree>
    <p:extLst>
      <p:ext uri="{BB962C8B-B14F-4D97-AF65-F5344CB8AC3E}">
        <p14:creationId xmlns:p14="http://schemas.microsoft.com/office/powerpoint/2010/main" xmlns="" val="200453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3D740-F2E2-BDCA-2DA5-50932A00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7103DC1-9251-3699-0C0C-F89964C67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516049455"/>
              </p:ext>
            </p:extLst>
          </p:nvPr>
        </p:nvGraphicFramePr>
        <p:xfrm>
          <a:off x="838200" y="1825624"/>
          <a:ext cx="10515600" cy="335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000">
                  <a:extLst>
                    <a:ext uri="{9D8B030D-6E8A-4147-A177-3AD203B41FA5}">
                      <a16:colId xmlns:a16="http://schemas.microsoft.com/office/drawing/2014/main" xmlns="" val="1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xmlns="" val="1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xmlns="" val="1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xmlns="" val="1003"/>
                    </a:ext>
                  </a:extLst>
                </a:gridCol>
                <a:gridCol w="3715600">
                  <a:extLst>
                    <a:ext uri="{9D8B030D-6E8A-4147-A177-3AD203B41FA5}">
                      <a16:colId xmlns:a16="http://schemas.microsoft.com/office/drawing/2014/main" xmlns="" val="1004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Feature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Min Temp D91-D120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15.5-21.0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Min daily temperature during reproductive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Max Temp D91-D120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29.0-37.5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Max daily temperature during reproductive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Relative 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Int64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62-93 %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Avg relative humidity during days 91-120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Paddy Yield (Kg)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Int64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31,800-39,200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Target variable: observed paddy yield per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9347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E0EAB2-C356-0D86-3922-B30DFDC4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870117-2D87-0233-B6C1-16B48E8E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Step 1 - Data Loading: Pandas-based inspection; confirmed 74 complete rows, 4 columns.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2 - EDA: Correlation heatmap reveals Min Temp vs Humidity strong negative correlation.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3 - Preprocessing: StandardScaler normalisation applied across all three features.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4 - Model Training: Three baseline regressors trained on 80% training data split.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5 - Hyperparameter Tuning: GridSearchCV (5-fold CV) for Decision Tree, RF and Ridge.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Evaluation: MSE, MAE, R2 Score computed; Feature importance extracted from Decision Tree.</a:t>
            </a:r>
          </a:p>
        </p:txBody>
      </p:sp>
    </p:spTree>
    <p:extLst>
      <p:ext uri="{BB962C8B-B14F-4D97-AF65-F5344CB8AC3E}">
        <p14:creationId xmlns:p14="http://schemas.microsoft.com/office/powerpoint/2010/main" xmlns="" val="289001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EF3737-6A7E-FACA-1B48-F2B4C49F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E7DF8-8C69-C82E-B94C-865E63F26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</a:rPr>
              <a:t>Language: Python 3.x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Libraries: scikit-learn (models, GridSearchCV, StandardScaler), pandas, numpy.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Visualisation: matplotlib, seaborn - heatmaps, distribution plots, bar and scatter charts.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Development Environment: Jupyter Notebook / Google Colab.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Key Algorithms: LinearRegression, DecisionTreeRegressor, RandomForestRegressor, Ridge.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Evaluation: mean_squared_error, mean_absolute_error, r2_score, GridSearchCV</a:t>
            </a:r>
            <a:r>
              <a:rPr lang="en-US" sz="16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51031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CBD8BB-D97B-B56E-58CB-A288FA0C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4FC46C-36B3-176C-3E96-E8B290E60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841706" cy="358378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</a:rPr>
              <a:t>Table: Model Performance Before Tuning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Model              |   MSE        |  MAE (Kg)  |  R2 Score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Linear Regression  | 2,827,162    |  1,465.66  |  -0.2345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Decision Tree      | 2,319,267    |  1,255.09  |  -0.0127  (Best)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Random Forest      | 2,436,712    |  1,294.94  |  -0.0640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</a:rPr>
              <a:t>Table: Tuned Model Performance (GridSearchCV)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Tuned Decision Tree   | 2,346,195  |  1,270.55  |  -0.0245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Tuned Random Forest   | 2,364,408  |  1,264.74  |  -0.0324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Tuned Ridge Regress.  | 2,830,648  |  1,445.14  |  -0.2360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Key Finding: Min Temperature is the dominant feature (~76% importance).</a:t>
            </a:r>
          </a:p>
        </p:txBody>
      </p:sp>
    </p:spTree>
    <p:extLst>
      <p:ext uri="{BB962C8B-B14F-4D97-AF65-F5344CB8AC3E}">
        <p14:creationId xmlns:p14="http://schemas.microsoft.com/office/powerpoint/2010/main" xmlns="" val="138165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3D067-D44D-2C01-5DCA-2D2B3B74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A64406-952C-94A7-6E55-7E59F235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Decision Tree achieved best performance: MSE 2,319,267  |  MAE 1,255 Kg  |  R2 = -0.0127.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All three models show negative R2, indicating performance below mean-baseline (small n=74).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Hyperparameter tuning did not substantially improve results; minor degradation was observed.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Minimum Temperature is the dominant feature at ~76% importance in the Decision Tree model.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Predictions cluster in a narrow band (34,200-36,200 Kg) regardless of actual yield variation.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Limitations: Max feature-yield correlation of only 0.16; no temporal/soil/variety features.</a:t>
            </a:r>
          </a:p>
        </p:txBody>
      </p:sp>
    </p:spTree>
    <p:extLst>
      <p:ext uri="{BB962C8B-B14F-4D97-AF65-F5344CB8AC3E}">
        <p14:creationId xmlns:p14="http://schemas.microsoft.com/office/powerpoint/2010/main" xmlns="" val="201104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597EE7-CA32-48E0-B2F3-BD45410E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928239-6939-C5DC-DD9E-9BBDF6030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Implemented end-to-end ML pipeline for paddy yield prediction from climate data (days 91-120).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Decision Tree Regressor outperformed all others: MSE 2.32x10^6 and MAE 1,255 Kg.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Minimum Temperature is the most influential yield predictor via Decision Tree feature importance.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Negative R2 reflects small-n regression challenge, not a flaw in the pipeline design.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Future Work: Add temporal data, soil properties, variety info; test XGBoost and LSTM models.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This baseline framework supports scalable precision agriculture when paired with richer datasets.</a:t>
            </a:r>
          </a:p>
        </p:txBody>
      </p:sp>
    </p:spTree>
    <p:extLst>
      <p:ext uri="{BB962C8B-B14F-4D97-AF65-F5344CB8AC3E}">
        <p14:creationId xmlns:p14="http://schemas.microsoft.com/office/powerpoint/2010/main" xmlns="" val="421765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16E04A-F69A-8A3C-B3E7-98F07E31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17850-9E33-CF25-FB7B-B6334515A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</a:rPr>
              <a:t>1. Pantazi et al. (2016) - SVM/Neural Networks for crop yield prediction from environmental data.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2. Mucherino et al. (2009) - Survey: DT and ensemble methods outperform regression in agriculture.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3. Doshi et al. (2018) - AgroConsultant: Decision Tree-based crop recommendation (~88% accuracy).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4. Pudumalar et al. (2017) - RF + Naive Bayes + DT ensemble; ~99% crop recommendation accuracy.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5. Breiman (2001) - Random Forests: theoretical foundation for ensemble bagging methods.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6. Jeong et al. (2022) - LSTM + RF for rice yield prediction; R2 = 0.89 on multi-year data.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7. Mishra et al. (2024) - Gradient Boosting and XGBoost; 18% RMSE improvement vs baseline.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8. Sharma et al. (2025) - Transformer-based deep learning for multi-crop yield forecasting</a:t>
            </a:r>
            <a:r>
              <a:rPr lang="en-US" sz="16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57713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1210</Words>
  <Application>Microsoft Office PowerPoint</Application>
  <PresentationFormat>Custom</PresentationFormat>
  <Paragraphs>129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Paddy Yield Prediction Using Machine Learning</vt:lpstr>
      <vt:lpstr>Content</vt:lpstr>
      <vt:lpstr>Introduction</vt:lpstr>
      <vt:lpstr>Problem Statement</vt:lpstr>
      <vt:lpstr>Motivation</vt:lpstr>
      <vt:lpstr>Objectives of the Project</vt:lpstr>
      <vt:lpstr>Dataset Overview</vt:lpstr>
      <vt:lpstr>Dataset Feature Description</vt:lpstr>
      <vt:lpstr>Methodology / Approach</vt:lpstr>
      <vt:lpstr>Tools and Technologies Used</vt:lpstr>
      <vt:lpstr>Results</vt:lpstr>
      <vt:lpstr>Discussion / Analysis</vt:lpstr>
      <vt:lpstr>Conclusion and Future Work</vt:lpstr>
      <vt:lpstr>References / 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Paddy Yield Prediction Using Machine Learning</dc:title>
  <dc:creator>PRABHURAJ METIPATIL</dc:creator>
  <cp:lastModifiedBy>CSL--14</cp:lastModifiedBy>
  <cp:revision>10</cp:revision>
  <dcterms:created xsi:type="dcterms:W3CDTF">2026-04-07T05:30:05Z</dcterms:created>
  <dcterms:modified xsi:type="dcterms:W3CDTF">2026-04-17T03:43:17Z</dcterms:modified>
</cp:coreProperties>
</file>